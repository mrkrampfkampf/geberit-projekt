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 type="wide"/>
  <p:notesSz cx="6858000" cy="9144000"/>
  <p:defaultTextStyle>
    <a:defPPr>
      <a:defRPr lang="de-DE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79200"/>
          </a:xfrm>
          <a:prstGeom prst="rect">
            <a:avLst/>
          </a:prstGeom>
          <a:solidFill>
            <a:srgbClr val="1F6F8B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360000" y="198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3300" b="1" dirty="0">
                <a:solidFill>
                  <a:srgbClr val="17202A"/>
                </a:solidFill>
              </a:rPr>
              <a:t>Geberit Website &amp; Carrera KI Projekt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78000" y="486000"/>
            <a:ext cx="6660000" cy="198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650" b="0" dirty="0">
                <a:solidFill>
                  <a:srgbClr val="5B6770"/>
                </a:solidFill>
              </a:rPr>
              <a:t>Kurzer Logikueberblick ohne Code-Erklaerung</a:t>
            </a:r>
          </a:p>
        </p:txBody>
      </p:sp>
      <p:sp>
        <p:nvSpPr>
          <p:cNvPr id="5" name="Bullets"/>
          <p:cNvSpPr txBox="1"/>
          <p:nvPr/>
        </p:nvSpPr>
        <p:spPr>
          <a:xfrm>
            <a:off x="360000" y="737999"/>
            <a:ext cx="4356000" cy="16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5"/>
            </a:solidFill>
          </a:ln>
        </p:spPr>
        <p:txBody>
          <a:bodyPr wrap="square" lIns="140000" tIns="90000" rIns="140000" bIns="90000">
            <a:spAutoFit/>
          </a:bodyPr>
          <a:lstStyle/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Website: Nutzer findet Geberit-Produkte, legt sie in den Warenkorb und stellt eine Anfrage.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Carrera: Kamera erkennt das Auto, Python entscheidet Gas, Pico bewegt den echten Regler.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Ziel: Beide Projekte als verstaendliche Ablauf- und Entscheidungslogik zeigen.</a:t>
            </a:r>
          </a:p>
        </p:txBody>
      </p:sp>
      <p:sp>
        <p:nvSpPr>
          <p:cNvPr id="10" name="Startseite"/>
          <p:cNvSpPr txBox="1"/>
          <p:nvPr/>
        </p:nvSpPr>
        <p:spPr>
          <a:xfrm>
            <a:off x="4896000" y="774000"/>
            <a:ext cx="1980000" cy="259200"/>
          </a:xfrm>
          <a:prstGeom prst="roundRect">
            <a:avLst/>
          </a:prstGeom>
          <a:solidFill>
            <a:srgbClr val="1F6F8B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Startseite</a:t>
            </a:r>
          </a:p>
        </p:txBody>
      </p:sp>
      <p:sp>
        <p:nvSpPr>
          <p:cNvPr id="11" name="Produkte"/>
          <p:cNvSpPr txBox="1"/>
          <p:nvPr/>
        </p:nvSpPr>
        <p:spPr>
          <a:xfrm>
            <a:off x="4896000" y="1112400"/>
            <a:ext cx="1980000" cy="2592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Produkte</a:t>
            </a:r>
          </a:p>
        </p:txBody>
      </p:sp>
      <p:sp>
        <p:nvSpPr>
          <p:cNvPr id="12" name="Warenkorb"/>
          <p:cNvSpPr txBox="1"/>
          <p:nvPr/>
        </p:nvSpPr>
        <p:spPr>
          <a:xfrm>
            <a:off x="4896000" y="1450800"/>
            <a:ext cx="1980000" cy="259200"/>
          </a:xfrm>
          <a:prstGeom prst="roundRect">
            <a:avLst/>
          </a:prstGeom>
          <a:solidFill>
            <a:srgbClr val="F2A541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Warenkorb</a:t>
            </a:r>
          </a:p>
        </p:txBody>
      </p:sp>
      <p:sp>
        <p:nvSpPr>
          <p:cNvPr id="13" name="Anfrage"/>
          <p:cNvSpPr txBox="1"/>
          <p:nvPr/>
        </p:nvSpPr>
        <p:spPr>
          <a:xfrm>
            <a:off x="4896000" y="1789200"/>
            <a:ext cx="1980000" cy="259200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Anfrage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360000" y="2286000"/>
            <a:ext cx="6840000" cy="125999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150" b="0" dirty="0">
                <a:solidFill>
                  <a:srgbClr val="7A8691"/>
                </a:solidFill>
              </a:rPr>
              <a:t>Geberit Website und neues Carrera KI Projekt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7920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360000" y="198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3300" b="1" dirty="0">
                <a:solidFill>
                  <a:srgbClr val="17202A"/>
                </a:solidFill>
              </a:rPr>
              <a:t>Website: Nutzerfluss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78000" y="486000"/>
            <a:ext cx="6660000" cy="198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650" b="0" dirty="0">
                <a:solidFill>
                  <a:srgbClr val="5B6770"/>
                </a:solidFill>
              </a:rPr>
              <a:t>Von Orientierung bis Anfrage</a:t>
            </a:r>
          </a:p>
        </p:txBody>
      </p:sp>
      <p:sp>
        <p:nvSpPr>
          <p:cNvPr id="5" name="Bullets"/>
          <p:cNvSpPr txBox="1"/>
          <p:nvPr/>
        </p:nvSpPr>
        <p:spPr>
          <a:xfrm>
            <a:off x="360000" y="737999"/>
            <a:ext cx="4356000" cy="16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5"/>
            </a:solidFill>
          </a:ln>
        </p:spPr>
        <p:txBody>
          <a:bodyPr wrap="square" lIns="140000" tIns="90000" rIns="140000" bIns="90000">
            <a:spAutoFit/>
          </a:bodyPr>
          <a:lstStyle/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Die Startseite fuehrt zu Produktuebersicht, Ueber-Geberit-Seite, Warenkorb und Kontakt.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Die Produktseite gruppiert Artikel nach Kategorien wie WC-Systeme, Waschbecken und Duschen.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Suche und Filter reduzieren die Produktliste auf passende Treffer.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Produktkarten zeigen Bild, Preis, Beschreibung und Aktion fuer Details oder Warenkorb.</a:t>
            </a:r>
          </a:p>
        </p:txBody>
      </p:sp>
      <p:sp>
        <p:nvSpPr>
          <p:cNvPr id="10" name="Navigation"/>
          <p:cNvSpPr txBox="1"/>
          <p:nvPr/>
        </p:nvSpPr>
        <p:spPr>
          <a:xfrm>
            <a:off x="4896000" y="774000"/>
            <a:ext cx="1980000" cy="259200"/>
          </a:xfrm>
          <a:prstGeom prst="roundRect">
            <a:avLst/>
          </a:prstGeom>
          <a:solidFill>
            <a:srgbClr val="1F6F8B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Navigation</a:t>
            </a:r>
          </a:p>
        </p:txBody>
      </p:sp>
      <p:sp>
        <p:nvSpPr>
          <p:cNvPr id="11" name="Kategorie"/>
          <p:cNvSpPr txBox="1"/>
          <p:nvPr/>
        </p:nvSpPr>
        <p:spPr>
          <a:xfrm>
            <a:off x="4896000" y="1112400"/>
            <a:ext cx="1980000" cy="2592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Kategorie</a:t>
            </a:r>
          </a:p>
        </p:txBody>
      </p:sp>
      <p:sp>
        <p:nvSpPr>
          <p:cNvPr id="12" name="Produktkarte"/>
          <p:cNvSpPr txBox="1"/>
          <p:nvPr/>
        </p:nvSpPr>
        <p:spPr>
          <a:xfrm>
            <a:off x="4896000" y="1450800"/>
            <a:ext cx="1980000" cy="259200"/>
          </a:xfrm>
          <a:prstGeom prst="roundRect">
            <a:avLst/>
          </a:prstGeom>
          <a:solidFill>
            <a:srgbClr val="F2A541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Produktkarte</a:t>
            </a:r>
          </a:p>
        </p:txBody>
      </p:sp>
      <p:sp>
        <p:nvSpPr>
          <p:cNvPr id="13" name="Auswahl"/>
          <p:cNvSpPr txBox="1"/>
          <p:nvPr/>
        </p:nvSpPr>
        <p:spPr>
          <a:xfrm>
            <a:off x="4896000" y="1789200"/>
            <a:ext cx="1980000" cy="259200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Auswahl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360000" y="2286000"/>
            <a:ext cx="6840000" cy="125999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150" b="0" dirty="0">
                <a:solidFill>
                  <a:srgbClr val="7A8691"/>
                </a:solidFill>
              </a:rPr>
              <a:t>Logik statt Code: Eingabe -&gt; Entscheidung -&gt; Ergebnis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79200"/>
          </a:xfrm>
          <a:prstGeom prst="rect">
            <a:avLst/>
          </a:prstGeom>
          <a:solidFill>
            <a:srgbClr val="F2A541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360000" y="198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3300" b="1" dirty="0">
                <a:solidFill>
                  <a:srgbClr val="17202A"/>
                </a:solidFill>
              </a:rPr>
              <a:t>Website: Warenkorb und Daten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78000" y="486000"/>
            <a:ext cx="6660000" cy="198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650" b="0" dirty="0">
                <a:solidFill>
                  <a:srgbClr val="5B6770"/>
                </a:solidFill>
              </a:rPr>
              <a:t>Lokale Bedienung mit optionaler Datenbank-Sicherung</a:t>
            </a:r>
          </a:p>
        </p:txBody>
      </p:sp>
      <p:sp>
        <p:nvSpPr>
          <p:cNvPr id="5" name="Bullets"/>
          <p:cNvSpPr txBox="1"/>
          <p:nvPr/>
        </p:nvSpPr>
        <p:spPr>
          <a:xfrm>
            <a:off x="360000" y="737999"/>
            <a:ext cx="4356000" cy="16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5"/>
            </a:solidFill>
          </a:ln>
        </p:spPr>
        <p:txBody>
          <a:bodyPr wrap="square" lIns="140000" tIns="90000" rIns="140000" bIns="90000">
            <a:spAutoFit/>
          </a:bodyPr>
          <a:lstStyle/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Ausgewaehlte Produkte werden im Browser gespeichert, damit der Warenkorb erhalten bleibt.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Der Warenkorb zaehlt Mengen, berechnet Summe, erlaubt Suche und Entfernen von Artikeln.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Ein Besucher-Schluessel verbindet lokale Warenkorb-Daten mit Supabase-Speicherung.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Am Ende wird aus dem Warenkorb eine E-Mail-Anfrage an Geberit vorbereitet.</a:t>
            </a:r>
          </a:p>
        </p:txBody>
      </p:sp>
      <p:sp>
        <p:nvSpPr>
          <p:cNvPr id="10" name="Produkt"/>
          <p:cNvSpPr txBox="1"/>
          <p:nvPr/>
        </p:nvSpPr>
        <p:spPr>
          <a:xfrm>
            <a:off x="4896000" y="774000"/>
            <a:ext cx="1980000" cy="259200"/>
          </a:xfrm>
          <a:prstGeom prst="roundRect">
            <a:avLst/>
          </a:prstGeom>
          <a:solidFill>
            <a:srgbClr val="1F6F8B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Produkt</a:t>
            </a:r>
          </a:p>
        </p:txBody>
      </p:sp>
      <p:sp>
        <p:nvSpPr>
          <p:cNvPr id="11" name="localStorage"/>
          <p:cNvSpPr txBox="1"/>
          <p:nvPr/>
        </p:nvSpPr>
        <p:spPr>
          <a:xfrm>
            <a:off x="4896000" y="1112400"/>
            <a:ext cx="1980000" cy="2592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localStorage</a:t>
            </a:r>
          </a:p>
        </p:txBody>
      </p:sp>
      <p:sp>
        <p:nvSpPr>
          <p:cNvPr id="12" name="Supabase"/>
          <p:cNvSpPr txBox="1"/>
          <p:nvPr/>
        </p:nvSpPr>
        <p:spPr>
          <a:xfrm>
            <a:off x="4896000" y="1450800"/>
            <a:ext cx="1980000" cy="259200"/>
          </a:xfrm>
          <a:prstGeom prst="roundRect">
            <a:avLst/>
          </a:prstGeom>
          <a:solidFill>
            <a:srgbClr val="F2A541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Supabase</a:t>
            </a:r>
          </a:p>
        </p:txBody>
      </p:sp>
      <p:sp>
        <p:nvSpPr>
          <p:cNvPr id="13" name="E-Mail"/>
          <p:cNvSpPr txBox="1"/>
          <p:nvPr/>
        </p:nvSpPr>
        <p:spPr>
          <a:xfrm>
            <a:off x="4896000" y="1789200"/>
            <a:ext cx="1980000" cy="259200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E-Mail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360000" y="2286000"/>
            <a:ext cx="6840000" cy="125999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150" b="0" dirty="0">
                <a:solidFill>
                  <a:srgbClr val="7A8691"/>
                </a:solidFill>
              </a:rPr>
              <a:t>Logik statt Code: Eingabe -&gt; Entscheidung -&gt; Ergebnis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79200"/>
          </a:xfrm>
          <a:prstGeom prst="rect">
            <a:avLst/>
          </a:prstGeom>
          <a:solidFill>
            <a:srgbClr val="D64545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360000" y="198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3300" b="1" dirty="0">
                <a:solidFill>
                  <a:srgbClr val="17202A"/>
                </a:solidFill>
              </a:rPr>
              <a:t>Carrera: Systemfluss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78000" y="486000"/>
            <a:ext cx="6660000" cy="198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650" b="0" dirty="0">
                <a:solidFill>
                  <a:srgbClr val="5B6770"/>
                </a:solidFill>
              </a:rPr>
              <a:t>Vom Kamerabild zum echten Gas-Schieberegler</a:t>
            </a:r>
          </a:p>
        </p:txBody>
      </p:sp>
      <p:sp>
        <p:nvSpPr>
          <p:cNvPr id="5" name="Bullets"/>
          <p:cNvSpPr txBox="1"/>
          <p:nvPr/>
        </p:nvSpPr>
        <p:spPr>
          <a:xfrm>
            <a:off x="360000" y="737999"/>
            <a:ext cx="4356000" cy="16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5"/>
            </a:solidFill>
          </a:ln>
        </p:spPr>
        <p:txBody>
          <a:bodyPr wrap="square" lIns="140000" tIns="90000" rIns="140000" bIns="90000">
            <a:spAutoFit/>
          </a:bodyPr>
          <a:lstStyle/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Eine Kamera von oben erkennt Auto-Position und Streckenabschnitt.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Python bewertet die Position und waehlt einen Gaswert fuer den aktuellen Abschnitt.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Der PC sendet den Gaswert an den Raspberry Pi Pico W.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Der Pico steuert den Stepper, der den physischen Carrera-Handregler bewegt.</a:t>
            </a:r>
          </a:p>
        </p:txBody>
      </p:sp>
      <p:sp>
        <p:nvSpPr>
          <p:cNvPr id="10" name="Kamera"/>
          <p:cNvSpPr txBox="1"/>
          <p:nvPr/>
        </p:nvSpPr>
        <p:spPr>
          <a:xfrm>
            <a:off x="4896000" y="774000"/>
            <a:ext cx="1980000" cy="259200"/>
          </a:xfrm>
          <a:prstGeom prst="roundRect">
            <a:avLst/>
          </a:prstGeom>
          <a:solidFill>
            <a:srgbClr val="1F6F8B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Kamera</a:t>
            </a:r>
          </a:p>
        </p:txBody>
      </p:sp>
      <p:sp>
        <p:nvSpPr>
          <p:cNvPr id="11" name="Python"/>
          <p:cNvSpPr txBox="1"/>
          <p:nvPr/>
        </p:nvSpPr>
        <p:spPr>
          <a:xfrm>
            <a:off x="4896000" y="1112400"/>
            <a:ext cx="1980000" cy="2592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12" name="Pico W"/>
          <p:cNvSpPr txBox="1"/>
          <p:nvPr/>
        </p:nvSpPr>
        <p:spPr>
          <a:xfrm>
            <a:off x="4896000" y="1450800"/>
            <a:ext cx="1980000" cy="259200"/>
          </a:xfrm>
          <a:prstGeom prst="roundRect">
            <a:avLst/>
          </a:prstGeom>
          <a:solidFill>
            <a:srgbClr val="F2A541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Pico W</a:t>
            </a:r>
          </a:p>
        </p:txBody>
      </p:sp>
      <p:sp>
        <p:nvSpPr>
          <p:cNvPr id="13" name="Stepper"/>
          <p:cNvSpPr txBox="1"/>
          <p:nvPr/>
        </p:nvSpPr>
        <p:spPr>
          <a:xfrm>
            <a:off x="4896000" y="1789200"/>
            <a:ext cx="1980000" cy="259200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Stepper</a:t>
            </a:r>
          </a:p>
        </p:txBody>
      </p:sp>
      <p:sp>
        <p:nvSpPr>
          <p:cNvPr id="14" name="Regler"/>
          <p:cNvSpPr txBox="1"/>
          <p:nvPr/>
        </p:nvSpPr>
        <p:spPr>
          <a:xfrm>
            <a:off x="4896000" y="2127600"/>
            <a:ext cx="1980000" cy="259200"/>
          </a:xfrm>
          <a:prstGeom prst="roundRect">
            <a:avLst/>
          </a:prstGeom>
          <a:solidFill>
            <a:srgbClr val="3A506B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Regler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360000" y="2286000"/>
            <a:ext cx="6840000" cy="125999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150" b="0" dirty="0">
                <a:solidFill>
                  <a:srgbClr val="7A8691"/>
                </a:solidFill>
              </a:rPr>
              <a:t>Logik statt Code: Eingabe -&gt; Entscheidung -&gt; Ergebnis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79200"/>
          </a:xfrm>
          <a:prstGeom prst="rect">
            <a:avLst/>
          </a:prstGeom>
          <a:solidFill>
            <a:srgbClr val="6C5CE7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360000" y="198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3300" b="1" dirty="0">
                <a:solidFill>
                  <a:srgbClr val="17202A"/>
                </a:solidFill>
              </a:rPr>
              <a:t>Carrera: Lernlogik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78000" y="486000"/>
            <a:ext cx="6660000" cy="198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650" b="0" dirty="0">
                <a:solidFill>
                  <a:srgbClr val="5B6770"/>
                </a:solidFill>
              </a:rPr>
              <a:t>Rundenzeiten verbessern statt feste Werte raten</a:t>
            </a:r>
          </a:p>
        </p:txBody>
      </p:sp>
      <p:sp>
        <p:nvSpPr>
          <p:cNvPr id="5" name="Bullets"/>
          <p:cNvSpPr txBox="1"/>
          <p:nvPr/>
        </p:nvSpPr>
        <p:spPr>
          <a:xfrm>
            <a:off x="360000" y="737999"/>
            <a:ext cx="4356000" cy="16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5"/>
            </a:solidFill>
          </a:ln>
        </p:spPr>
        <p:txBody>
          <a:bodyPr wrap="square" lIns="140000" tIns="90000" rIns="140000" bIns="90000">
            <a:spAutoFit/>
          </a:bodyPr>
          <a:lstStyle/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Die Strecke ist in Abschnitte aufgeteilt: Geraden, Kurven, Start/Ziel und Uebergang.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Jeder Abschnitt hat einen eigenen Gaswert im Profil.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Nach jeder Runde wird die Rundenzeit bewertet.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Wird die Runde schneller, bleibt die Aenderung; wird sie schlechter, wird sie zurueckgenommen.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Bei Auto verloren, Kamerafehler, Timeout oder Stopp wird immer Gas 0 gesetzt.</a:t>
            </a:r>
          </a:p>
        </p:txBody>
      </p:sp>
      <p:sp>
        <p:nvSpPr>
          <p:cNvPr id="10" name="Profil"/>
          <p:cNvSpPr txBox="1"/>
          <p:nvPr/>
        </p:nvSpPr>
        <p:spPr>
          <a:xfrm>
            <a:off x="4896000" y="774000"/>
            <a:ext cx="1980000" cy="259200"/>
          </a:xfrm>
          <a:prstGeom prst="roundRect">
            <a:avLst/>
          </a:prstGeom>
          <a:solidFill>
            <a:srgbClr val="1F6F8B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Profil</a:t>
            </a:r>
          </a:p>
        </p:txBody>
      </p:sp>
      <p:sp>
        <p:nvSpPr>
          <p:cNvPr id="11" name="Runde"/>
          <p:cNvSpPr txBox="1"/>
          <p:nvPr/>
        </p:nvSpPr>
        <p:spPr>
          <a:xfrm>
            <a:off x="4896000" y="1112400"/>
            <a:ext cx="1980000" cy="2592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Runde</a:t>
            </a:r>
          </a:p>
        </p:txBody>
      </p:sp>
      <p:sp>
        <p:nvSpPr>
          <p:cNvPr id="12" name="Bewertung"/>
          <p:cNvSpPr txBox="1"/>
          <p:nvPr/>
        </p:nvSpPr>
        <p:spPr>
          <a:xfrm>
            <a:off x="4896000" y="1450800"/>
            <a:ext cx="1980000" cy="259200"/>
          </a:xfrm>
          <a:prstGeom prst="roundRect">
            <a:avLst/>
          </a:prstGeom>
          <a:solidFill>
            <a:srgbClr val="F2A541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Bewertung</a:t>
            </a:r>
          </a:p>
        </p:txBody>
      </p:sp>
      <p:sp>
        <p:nvSpPr>
          <p:cNvPr id="13" name="Anpassen"/>
          <p:cNvSpPr txBox="1"/>
          <p:nvPr/>
        </p:nvSpPr>
        <p:spPr>
          <a:xfrm>
            <a:off x="4896000" y="1789200"/>
            <a:ext cx="1980000" cy="259200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Anpassen</a:t>
            </a:r>
          </a:p>
        </p:txBody>
      </p:sp>
      <p:sp>
        <p:nvSpPr>
          <p:cNvPr id="14" name="Sicherheit"/>
          <p:cNvSpPr txBox="1"/>
          <p:nvPr/>
        </p:nvSpPr>
        <p:spPr>
          <a:xfrm>
            <a:off x="4896000" y="2127600"/>
            <a:ext cx="1980000" cy="259200"/>
          </a:xfrm>
          <a:prstGeom prst="roundRect">
            <a:avLst/>
          </a:prstGeom>
          <a:solidFill>
            <a:srgbClr val="3A506B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Sicherheit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360000" y="2286000"/>
            <a:ext cx="6840000" cy="125999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150" b="0" dirty="0">
                <a:solidFill>
                  <a:srgbClr val="7A8691"/>
                </a:solidFill>
              </a:rPr>
              <a:t>Logik statt Code: Eingabe -&gt; Entscheidung -&gt; Ergebnis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79200"/>
          </a:xfrm>
          <a:prstGeom prst="rect">
            <a:avLst/>
          </a:prstGeom>
          <a:solidFill>
            <a:srgbClr val="3A506B"/>
          </a:solidFill>
          <a:ln>
            <a:noFill/>
          </a:ln>
        </p:spPr>
      </p:sp>
      <p:sp>
        <p:nvSpPr>
          <p:cNvPr id="3" name="Title"/>
          <p:cNvSpPr txBox="1"/>
          <p:nvPr/>
        </p:nvSpPr>
        <p:spPr>
          <a:xfrm>
            <a:off x="360000" y="198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3300" b="1" dirty="0">
                <a:solidFill>
                  <a:srgbClr val="17202A"/>
                </a:solidFill>
              </a:rPr>
              <a:t>Aktueller Stand und naechste Schritte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78000" y="486000"/>
            <a:ext cx="6660000" cy="198000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650" b="0" dirty="0">
                <a:solidFill>
                  <a:srgbClr val="5B6770"/>
                </a:solidFill>
              </a:rPr>
              <a:t>Was jetzt im Git-Branch liegt</a:t>
            </a:r>
          </a:p>
        </p:txBody>
      </p:sp>
      <p:sp>
        <p:nvSpPr>
          <p:cNvPr id="5" name="Bullets"/>
          <p:cNvSpPr txBox="1"/>
          <p:nvPr/>
        </p:nvSpPr>
        <p:spPr>
          <a:xfrm>
            <a:off x="360000" y="737999"/>
            <a:ext cx="4356000" cy="16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5"/>
            </a:solidFill>
          </a:ln>
        </p:spPr>
        <p:txBody>
          <a:bodyPr wrap="square" lIns="140000" tIns="90000" rIns="140000" bIns="90000">
            <a:spAutoFit/>
          </a:bodyPr>
          <a:lstStyle/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Neuer Branch: carrera-projekt-neu mit dem lokalen Ordner Carrera Projekt.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Alter Remote-Branch Carrera-projekt wurde geloescht, weil er ein anderes Projekt enthielt.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Enthalten sind Kamera-Tracker, Stepper-/Pico-Steuerung, Lern-Autopilot, Profile und Doku.</a:t>
            </a:r>
          </a:p>
          <a:p>
            <a:pPr marL="285750" indent="-200000">
              <a:buFont typeface="Arial"/>
              <a:buChar char="-"/>
            </a:pPr>
            <a:r>
              <a:rPr lang="de-DE" sz="2050" b="0" dirty="0">
                <a:solidFill>
                  <a:srgbClr val="243B53"/>
                </a:solidFill>
              </a:rPr>
              <a:t>Naechste Praxis-Schritte: Kameraindex pruefen, COM-Port pruefen, Stepper kalibrieren, Lernfahrt starten.</a:t>
            </a:r>
          </a:p>
        </p:txBody>
      </p:sp>
      <p:sp>
        <p:nvSpPr>
          <p:cNvPr id="10" name="Branch"/>
          <p:cNvSpPr txBox="1"/>
          <p:nvPr/>
        </p:nvSpPr>
        <p:spPr>
          <a:xfrm>
            <a:off x="4896000" y="774000"/>
            <a:ext cx="1980000" cy="259200"/>
          </a:xfrm>
          <a:prstGeom prst="roundRect">
            <a:avLst/>
          </a:prstGeom>
          <a:solidFill>
            <a:srgbClr val="1F6F8B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Branch</a:t>
            </a:r>
          </a:p>
        </p:txBody>
      </p:sp>
      <p:sp>
        <p:nvSpPr>
          <p:cNvPr id="11" name="Setup"/>
          <p:cNvSpPr txBox="1"/>
          <p:nvPr/>
        </p:nvSpPr>
        <p:spPr>
          <a:xfrm>
            <a:off x="4896000" y="1112400"/>
            <a:ext cx="1980000" cy="25920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Setup</a:t>
            </a:r>
          </a:p>
        </p:txBody>
      </p:sp>
      <p:sp>
        <p:nvSpPr>
          <p:cNvPr id="12" name="Kalibrierung"/>
          <p:cNvSpPr txBox="1"/>
          <p:nvPr/>
        </p:nvSpPr>
        <p:spPr>
          <a:xfrm>
            <a:off x="4896000" y="1450800"/>
            <a:ext cx="1980000" cy="259200"/>
          </a:xfrm>
          <a:prstGeom prst="roundRect">
            <a:avLst/>
          </a:prstGeom>
          <a:solidFill>
            <a:srgbClr val="F2A541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Kalibrierung</a:t>
            </a:r>
          </a:p>
        </p:txBody>
      </p:sp>
      <p:sp>
        <p:nvSpPr>
          <p:cNvPr id="13" name="Lernfahrt"/>
          <p:cNvSpPr txBox="1"/>
          <p:nvPr/>
        </p:nvSpPr>
        <p:spPr>
          <a:xfrm>
            <a:off x="4896000" y="1789200"/>
            <a:ext cx="1980000" cy="259200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txBody>
          <a:bodyPr wrap="square" anchor="mid" lIns="90000" rIns="90000" tIns="60000" bIns="60000">
            <a:spAutoFit/>
          </a:bodyPr>
          <a:lstStyle/>
          <a:p>
            <a:pPr/>
            <a:r>
              <a:rPr lang="de-DE" sz="1850" b="1" dirty="0">
                <a:solidFill>
                  <a:srgbClr val="FFFFFF"/>
                </a:solidFill>
              </a:rPr>
              <a:t>Lernfahrt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360000" y="2286000"/>
            <a:ext cx="6840000" cy="125999"/>
          </a:xfrm>
          <a:prstGeom prst="rect">
            <a:avLst/>
          </a:prstGeom>
          <a:noFill/>
          <a:ln>
            <a:noFill/>
          </a:ln>
        </p:spPr>
        <p:txBody>
          <a:bodyPr wrap="square" lIns="140000" tIns="90000" rIns="140000" bIns="90000">
            <a:spAutoFit/>
          </a:bodyPr>
          <a:lstStyle/>
          <a:p>
            <a:pPr/>
            <a:r>
              <a:rPr lang="de-DE" sz="1150" b="0" dirty="0">
                <a:solidFill>
                  <a:srgbClr val="7A8691"/>
                </a:solidFill>
              </a:rPr>
              <a:t>Logik statt Code: Eingabe -&gt; Entscheidung -&gt; Ergebnis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berit Carrera Theme">
  <a:themeElements>
    <a:clrScheme name="Geberit Carrera">
      <a:dk1>
        <a:srgbClr val="17202A"/>
      </a:dk1>
      <a:lt1>
        <a:srgbClr val="FFFFFF"/>
      </a:lt1>
      <a:dk2>
        <a:srgbClr val="243B53"/>
      </a:dk2>
      <a:lt2>
        <a:srgbClr val="F6F8FA"/>
      </a:lt2>
      <a:accent1>
        <a:srgbClr val="1F6F8B"/>
      </a:accent1>
      <a:accent2>
        <a:srgbClr val="2A9D8F"/>
      </a:accent2>
      <a:accent3>
        <a:srgbClr val="F2A541"/>
      </a:accent3>
      <a:accent4>
        <a:srgbClr val="D64545"/>
      </a:accent4>
      <a:accent5>
        <a:srgbClr val="6C5CE7"/>
      </a:accent5>
      <a:accent6>
        <a:srgbClr val="3A506B"/>
      </a:accent6>
      <a:hlink>
        <a:srgbClr val="1F6F8B"/>
      </a:hlink>
      <a:folHlink>
        <a:srgbClr val="6C5CE7"/>
      </a:folHlink>
    </a:clrScheme>
    <a:fontScheme name="Arial">
      <a:majorFont>
        <a:latin typeface="Arial"/>
      </a:majorFont>
      <a:minorFont>
        <a:latin typeface="Arial"/>
      </a:minorFont>
    </a:fontScheme>
    <a:fmtScheme name="Simpl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Widescreen</PresentationFormat>
  <Slides>6</Slides>
  <Company>Geberit Projekt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Geberit Website und Carrera KI Projekt</dc:title>
  <dc:creator>Codex</dc:creator>
  <cp:lastModifiedBy>Codex</cp:lastModifiedBy>
  <dcterms:created xsi:type="dcterms:W3CDTF">2026-07-03T08:43:39Z</dcterms:created>
  <dcterms:modified xsi:type="dcterms:W3CDTF">2026-07-03T08:43:39Z</dcterms:modified>
</cp:coreProperties>
</file>
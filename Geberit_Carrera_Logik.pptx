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A37"/>
                </a:solidFill>
                <a:latin typeface="Arial"/>
              </a:rPr>
              <a:t>Geberit Website &amp; Carrera KI Projekt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058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B6770"/>
                </a:solidFill>
                <a:latin typeface="Arial"/>
              </a:rPr>
              <a:t>Kurzer Logiküberblick ohne Code-Erklärung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6126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A37"/>
                </a:solidFill>
                <a:latin typeface="Arial"/>
              </a:rPr>
              <a:t>Was wird erklärt?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5669280" cy="2651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000">
                <a:solidFill>
                  <a:srgbClr val="1F2A37"/>
                </a:solidFill>
                <a:latin typeface="Arial"/>
              </a:defRPr>
            </a:pPr>
            <a:r>
              <a:t>Die Geberit-Website: Seiten, Produktlogik, Suche, Warenkorb und Anfrage.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2000">
                <a:solidFill>
                  <a:srgbClr val="1F2A37"/>
                </a:solidFill>
                <a:latin typeface="Arial"/>
              </a:defRPr>
            </a:pPr>
            <a:r>
              <a:t>Das Carrera-Projekt: Kamera, Python-Entscheidung, Pico W, Stepper und Lernlogik.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2000">
                <a:solidFill>
                  <a:srgbClr val="1F2A37"/>
                </a:solidFill>
                <a:latin typeface="Arial"/>
              </a:defRPr>
            </a:pPr>
            <a:r>
              <a:t>Der Fokus liegt auf Abläufen und Entscheidungen, nicht auf Programmcode.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011680"/>
            <a:ext cx="3977639" cy="566928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Website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761488"/>
            <a:ext cx="3977639" cy="566928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Produkte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3511296"/>
            <a:ext cx="3977639" cy="566928"/>
          </a:xfrm>
          <a:prstGeom prst="round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Warenkorb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4261104"/>
            <a:ext cx="3977639" cy="566928"/>
          </a:xfrm>
          <a:prstGeom prst="roundRect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Carrera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5010912"/>
            <a:ext cx="3977639" cy="566928"/>
          </a:xfrm>
          <a:prstGeom prst="round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Lern-KI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A37"/>
                </a:solidFill>
                <a:latin typeface="Arial"/>
              </a:rPr>
              <a:t>Geberit-Website: Aufbau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058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B6770"/>
                </a:solidFill>
                <a:latin typeface="Arial"/>
              </a:rPr>
              <a:t>Ja, die Website über Geberit ist in der Präsentation enthalten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60807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5532120" cy="3840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>
                <a:solidFill>
                  <a:srgbClr val="1F2A37"/>
                </a:solidFill>
                <a:latin typeface="Arial"/>
              </a:defRPr>
            </a:pPr>
            <a:r>
              <a:t>Die Startseite dient als Einstieg und verlinkt zu Produkten, Über Geberit, Warenkorb und Kontakt.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>
                <a:solidFill>
                  <a:srgbClr val="1F2A37"/>
                </a:solidFill>
                <a:latin typeface="Arial"/>
              </a:defRPr>
            </a:pPr>
            <a:r>
              <a:t>Die Seite Über Geberit erklärt Marke, Sanitärtechnik, Produktkompetenz und Nutzen im Badezimmer.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>
                <a:solidFill>
                  <a:srgbClr val="1F2A37"/>
                </a:solidFill>
                <a:latin typeface="Arial"/>
              </a:defRPr>
            </a:pPr>
            <a:r>
              <a:t>Die Produktseite zeigt WC-Systeme, Waschbecken, Duschen und Abläufe in übersichtlichen Kategorien.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>
                <a:solidFill>
                  <a:srgbClr val="1F2A37"/>
                </a:solidFill>
                <a:latin typeface="Arial"/>
              </a:defRPr>
            </a:pPr>
            <a:r>
              <a:t>Alle Seiten nutzen eine gemeinsame Navigation mit Logo, Suche und Warenkorb-Anzeige.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874519"/>
            <a:ext cx="3977639" cy="566928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Startseite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2624327"/>
            <a:ext cx="3977639" cy="566928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Über Geberit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3374135"/>
            <a:ext cx="3977639" cy="566928"/>
          </a:xfrm>
          <a:prstGeom prst="round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Produkte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4123944"/>
            <a:ext cx="3977639" cy="566928"/>
          </a:xfrm>
          <a:prstGeom prst="roundRect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Warenkorb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4873752"/>
            <a:ext cx="3977639" cy="566928"/>
          </a:xfrm>
          <a:prstGeom prst="round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Kontakt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327648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A8691"/>
                </a:solidFill>
                <a:latin typeface="Arial"/>
              </a:rPr>
              <a:t>Kurz erklärt: Eingabe -&gt; Entscheidung -&gt; Ergebnis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A37"/>
                </a:solidFill>
                <a:latin typeface="Arial"/>
              </a:rPr>
              <a:t>Website: Produktlogik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058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B6770"/>
                </a:solidFill>
                <a:latin typeface="Arial"/>
              </a:rPr>
              <a:t>So findet ein Besucher passende Produkte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60807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5532120" cy="3840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>
                <a:solidFill>
                  <a:srgbClr val="1F2A37"/>
                </a:solidFill>
                <a:latin typeface="Arial"/>
              </a:defRPr>
            </a:pPr>
            <a:r>
              <a:t>Produkte sind nach Kategorien gruppiert und werden als Karten mit Bild, Preis und Kurzinfo dargestellt.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>
                <a:solidFill>
                  <a:srgbClr val="1F2A37"/>
                </a:solidFill>
                <a:latin typeface="Arial"/>
              </a:defRPr>
            </a:pPr>
            <a:r>
              <a:t>Die Suche vergleicht Suchbegriff mit Produktname und Kategorie und zeigt passende Vorschläge.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>
                <a:solidFill>
                  <a:srgbClr val="1F2A37"/>
                </a:solidFill>
                <a:latin typeface="Arial"/>
              </a:defRPr>
            </a:pPr>
            <a:r>
              <a:t>Produktdetails öffnen mehr Informationen, ohne dass der Nutzer die Übersicht verliert.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>
                <a:solidFill>
                  <a:srgbClr val="1F2A37"/>
                </a:solidFill>
                <a:latin typeface="Arial"/>
              </a:defRPr>
            </a:pPr>
            <a:r>
              <a:t>Ein Klick auf In den Warenkorb speichert das gewählte Produkt mit Menge und Grunddaten.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874519"/>
            <a:ext cx="3977639" cy="566928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Kategorie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2624327"/>
            <a:ext cx="3977639" cy="566928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Suche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3374135"/>
            <a:ext cx="3977639" cy="566928"/>
          </a:xfrm>
          <a:prstGeom prst="round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Produktkarte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4123944"/>
            <a:ext cx="3977639" cy="566928"/>
          </a:xfrm>
          <a:prstGeom prst="roundRect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Detail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4873752"/>
            <a:ext cx="3977639" cy="566928"/>
          </a:xfrm>
          <a:prstGeom prst="round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Auswahl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327648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A8691"/>
                </a:solidFill>
                <a:latin typeface="Arial"/>
              </a:rPr>
              <a:t>Kurz erklärt: Eingabe -&gt; Entscheidung -&gt; Ergebnis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A37"/>
                </a:solidFill>
                <a:latin typeface="Arial"/>
              </a:rPr>
              <a:t>Website: Warenkorb und Anfrage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058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B6770"/>
                </a:solidFill>
                <a:latin typeface="Arial"/>
              </a:rPr>
              <a:t>Vom ausgewählten Produkt zur Anfrage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60807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5532120" cy="3840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>
                <a:solidFill>
                  <a:srgbClr val="1F2A37"/>
                </a:solidFill>
                <a:latin typeface="Arial"/>
              </a:defRPr>
            </a:pPr>
            <a:r>
              <a:t>Der Warenkorb bleibt im Browser erhalten, weil die Auswahl lokal gespeichert wird.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>
                <a:solidFill>
                  <a:srgbClr val="1F2A37"/>
                </a:solidFill>
                <a:latin typeface="Arial"/>
              </a:defRPr>
            </a:pPr>
            <a:r>
              <a:t>Mengen können erhöht, reduziert oder entfernt werden; die Summe wird daraus neu berechnet.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>
                <a:solidFill>
                  <a:srgbClr val="1F2A37"/>
                </a:solidFill>
                <a:latin typeface="Arial"/>
              </a:defRPr>
            </a:pPr>
            <a:r>
              <a:t>Supabase kann Warenkorb- und Produktdaten zusätzlich speichern oder laden.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>
                <a:solidFill>
                  <a:srgbClr val="1F2A37"/>
                </a:solidFill>
                <a:latin typeface="Arial"/>
              </a:defRPr>
            </a:pPr>
            <a:r>
              <a:t>Am Ende wird aus den Artikeln eine vorbereitete E-Mail-Anfrage an Geberit erzeugt.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874519"/>
            <a:ext cx="3977639" cy="566928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Produkt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2624327"/>
            <a:ext cx="3977639" cy="566928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Browser-Speicher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3374135"/>
            <a:ext cx="3977639" cy="566928"/>
          </a:xfrm>
          <a:prstGeom prst="round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Datenbank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4123944"/>
            <a:ext cx="3977639" cy="566928"/>
          </a:xfrm>
          <a:prstGeom prst="roundRect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Summe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4873752"/>
            <a:ext cx="3977639" cy="566928"/>
          </a:xfrm>
          <a:prstGeom prst="round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E-Mail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327648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A8691"/>
                </a:solidFill>
                <a:latin typeface="Arial"/>
              </a:rPr>
              <a:t>Kurz erklärt: Eingabe -&gt; Entscheidung -&gt; Ergebnis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A37"/>
                </a:solidFill>
                <a:latin typeface="Arial"/>
              </a:rPr>
              <a:t>Carrera-Projekt: Systemfluss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058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B6770"/>
                </a:solidFill>
                <a:latin typeface="Arial"/>
              </a:rPr>
              <a:t>Vom Kamerabild zum echten Carrera-Handregler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60807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5532120" cy="3840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>
                <a:solidFill>
                  <a:srgbClr val="1F2A37"/>
                </a:solidFill>
                <a:latin typeface="Arial"/>
              </a:defRPr>
            </a:pPr>
            <a:r>
              <a:t>Eine Kamera von oben erkennt Auto-Position und Streckenabschnitt.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>
                <a:solidFill>
                  <a:srgbClr val="1F2A37"/>
                </a:solidFill>
                <a:latin typeface="Arial"/>
              </a:defRPr>
            </a:pPr>
            <a:r>
              <a:t>Python bewertet den Abschnitt und entscheidet, wie viel Gas gerade sinnvoll ist.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>
                <a:solidFill>
                  <a:srgbClr val="1F2A37"/>
                </a:solidFill>
                <a:latin typeface="Arial"/>
              </a:defRPr>
            </a:pPr>
            <a:r>
              <a:t>Der PC sendet den Gaswert an den Raspberry Pi Pico W.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>
                <a:solidFill>
                  <a:srgbClr val="1F2A37"/>
                </a:solidFill>
                <a:latin typeface="Arial"/>
              </a:defRPr>
            </a:pPr>
            <a:r>
              <a:t>Der Pico steuert einen Stepper-Motor, der den echten Schieberegler mechanisch bewegt.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874519"/>
            <a:ext cx="3977639" cy="566928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Kamera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2624327"/>
            <a:ext cx="3977639" cy="566928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Python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3374135"/>
            <a:ext cx="3977639" cy="566928"/>
          </a:xfrm>
          <a:prstGeom prst="round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Pico 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4123944"/>
            <a:ext cx="3977639" cy="566928"/>
          </a:xfrm>
          <a:prstGeom prst="roundRect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Stepper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4873752"/>
            <a:ext cx="3977639" cy="566928"/>
          </a:xfrm>
          <a:prstGeom prst="round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Handregler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327648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A8691"/>
                </a:solidFill>
                <a:latin typeface="Arial"/>
              </a:rPr>
              <a:t>Kurz erklärt: Eingabe -&gt; Entscheidung -&gt; Ergebnis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A37"/>
                </a:solidFill>
                <a:latin typeface="Arial"/>
              </a:rPr>
              <a:t>Carrera-Projekt: Lernlogik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058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B6770"/>
                </a:solidFill>
                <a:latin typeface="Arial"/>
              </a:rPr>
              <a:t>Das Auto wird über Rundenzeiten schrittweise schneller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60807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5532120" cy="3840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>
                <a:solidFill>
                  <a:srgbClr val="1F2A37"/>
                </a:solidFill>
                <a:latin typeface="Arial"/>
              </a:defRPr>
            </a:pPr>
            <a:r>
              <a:t>Die Strecke ist in Abschnitte wie Geraden, Kurven, Start/Ziel und Übergänge eingeteilt.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>
                <a:solidFill>
                  <a:srgbClr val="1F2A37"/>
                </a:solidFill>
                <a:latin typeface="Arial"/>
              </a:defRPr>
            </a:pPr>
            <a:r>
              <a:t>Jeder Abschnitt besitzt einen eigenen Gaswert im Fahrprofil.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>
                <a:solidFill>
                  <a:srgbClr val="1F2A37"/>
                </a:solidFill>
                <a:latin typeface="Arial"/>
              </a:defRPr>
            </a:pPr>
            <a:r>
              <a:t>Nach jeder Runde wird geprüft, ob die Änderung eine bessere Rundenzeit gebracht hat.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>
                <a:solidFill>
                  <a:srgbClr val="1F2A37"/>
                </a:solidFill>
                <a:latin typeface="Arial"/>
              </a:defRPr>
            </a:pPr>
            <a:r>
              <a:t>Gute Änderungen bleiben, schlechte Änderungen werden zurückgenommen oder reduziert.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>
                <a:solidFill>
                  <a:srgbClr val="1F2A37"/>
                </a:solidFill>
                <a:latin typeface="Arial"/>
              </a:defRPr>
            </a:pPr>
            <a:r>
              <a:t>Wenn Auto oder Kamera ausfallen, setzt die Steuerung immer Gas 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874519"/>
            <a:ext cx="3977639" cy="566928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Profil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2624327"/>
            <a:ext cx="3977639" cy="566928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Runde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3374135"/>
            <a:ext cx="3977639" cy="566928"/>
          </a:xfrm>
          <a:prstGeom prst="round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Zeit messen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4123944"/>
            <a:ext cx="3977639" cy="566928"/>
          </a:xfrm>
          <a:prstGeom prst="roundRect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Bewerten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4873752"/>
            <a:ext cx="3977639" cy="566928"/>
          </a:xfrm>
          <a:prstGeom prst="round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Anpassen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327648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A8691"/>
                </a:solidFill>
                <a:latin typeface="Arial"/>
              </a:rPr>
              <a:t>Kurz erklärt: Eingabe -&gt; Entscheidung -&gt; Ergebnis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A37"/>
                </a:solidFill>
                <a:latin typeface="Arial"/>
              </a:rPr>
              <a:t>Aktueller 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058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B6770"/>
                </a:solidFill>
                <a:latin typeface="Arial"/>
              </a:rPr>
              <a:t>Was im Git-Branch liegt und was als Nächstes kommt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60807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5532120" cy="3840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>
                <a:solidFill>
                  <a:srgbClr val="1F2A37"/>
                </a:solidFill>
                <a:latin typeface="Arial"/>
              </a:defRPr>
            </a:pPr>
            <a:r>
              <a:t>Der neue Branch heißt carrera-projekt-neu und enthält den lokalen Ordner Carrera Projekt.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>
                <a:solidFill>
                  <a:srgbClr val="1F2A37"/>
                </a:solidFill>
                <a:latin typeface="Arial"/>
              </a:defRPr>
            </a:pPr>
            <a:r>
              <a:t>Der alte Remote-Branch Carrera-projekt wurde gelöscht, weil er ein anderes Carrera-Projekt enthielt.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>
                <a:solidFill>
                  <a:srgbClr val="1F2A37"/>
                </a:solidFill>
                <a:latin typeface="Arial"/>
              </a:defRPr>
            </a:pPr>
            <a:r>
              <a:t>Enthalten sind Tracker, Stepper-/Pico-Steuerung, Lern-Autopilot, Profile, Bilder, CSVs und Dokumentation.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>
                <a:solidFill>
                  <a:srgbClr val="1F2A37"/>
                </a:solidFill>
                <a:latin typeface="Arial"/>
              </a:defRPr>
            </a:pPr>
            <a:r>
              <a:t>Nächste Schritte: Kameraindex prüfen, COM-Port prüfen, Stepper kalibrieren und Lernfahrt starten.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874519"/>
            <a:ext cx="3977639" cy="566928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Git-Branch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2624327"/>
            <a:ext cx="3977639" cy="566928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Projektordner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3374135"/>
            <a:ext cx="3977639" cy="566928"/>
          </a:xfrm>
          <a:prstGeom prst="round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Setup prüfen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4123944"/>
            <a:ext cx="3977639" cy="566928"/>
          </a:xfrm>
          <a:prstGeom prst="roundRect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Kalibrieren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4873752"/>
            <a:ext cx="3977639" cy="566928"/>
          </a:xfrm>
          <a:prstGeom prst="round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Lernfahrt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327648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A8691"/>
                </a:solidFill>
                <a:latin typeface="Arial"/>
              </a:rPr>
              <a:t>Kurz erklärt: Eingabe -&gt; Entscheidung -&gt; Ergebnis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